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BIM利用技術者試験2級対応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教科書・講義スライド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第1章｜BIMとは何か - 1. 章のねらい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本章では、BIMの本質的な定義を理解します。</a:t>
            </a:r>
          </a:p>
          <a:p>
            <a:pPr/>
            <a:r>
              <a:t>BIMを3Dやソフト操作と誤解しないための共通認識を作ります。</a:t>
            </a:r>
          </a:p>
          <a:p>
            <a:pPr/>
            <a:r>
              <a:t>以降すべての章の前提となる思想を整理します。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第1章｜BIMとは何か - 2. キーワード定義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**BIM（Building Information Modeling）**</a:t>
            </a:r>
          </a:p>
          <a:p>
            <a:pPr/>
            <a:r>
              <a:t>- 建物に関する情報を、再利用可能な形で統合管理する考え方である</a:t>
            </a:r>
          </a:p>
          <a:p>
            <a:pPr/>
            <a:r>
              <a:t>- Building Information *Model* ではなく、*Modeling* に重きがある</a:t>
            </a:r>
          </a:p>
          <a:p>
            <a:pPr/>
            <a:r>
              <a:t>- 単なる3Dモデルではなく、「情報を持ったモデル」である</a:t>
            </a:r>
          </a:p>
          <a:p>
            <a:pPr/>
            <a:r>
              <a:t>**誤解されやすい点**:</a:t>
            </a:r>
          </a:p>
          <a:p>
            <a:pPr/>
            <a:r>
              <a:t>- ❌ BIM＝3D化</a:t>
            </a:r>
          </a:p>
          <a:p>
            <a:pPr/>
            <a:r>
              <a:t>- ❌ BIM＝特定ソフト（Revit等）</a:t>
            </a:r>
          </a:p>
          <a:p>
            <a:pPr/>
            <a:r>
              <a:t>- ❌ BIM＝図面の3D表現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第1章｜BIMとは何か - 3. 本文解説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BIMは3Dモデルを作ることではありません。</a:t>
            </a:r>
          </a:p>
          <a:p>
            <a:pPr/>
            <a:r>
              <a:t>BIMとは、建物に関する情報を一貫して扱う仕組みです。</a:t>
            </a:r>
          </a:p>
          <a:p>
            <a:pPr/>
            <a:r>
              <a:t>従来のCADは「線」で図面を描きました。</a:t>
            </a:r>
          </a:p>
          <a:p>
            <a:pPr/>
            <a:r>
              <a:t>BIMは「オブジェクト」で建物を表現します。</a:t>
            </a:r>
          </a:p>
          <a:p>
            <a:pPr/>
            <a:r>
              <a:t>この違いは決定的です：</a:t>
            </a:r>
          </a:p>
          <a:p>
            <a:pPr/>
            <a:r>
              <a:t>**CADの場合**: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第1章｜BIMとは何か - 4. よくある誤解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**誤解1**: 「BIMは3Dモデルである」</a:t>
            </a:r>
          </a:p>
          <a:p>
            <a:pPr/>
            <a:r>
              <a:t>→ **正解**: 3Dは手段であり、本質は情報管理</a:t>
            </a:r>
          </a:p>
          <a:p>
            <a:pPr/>
            <a:r>
              <a:t>**誤解2**: 「BIMはソフト名である」</a:t>
            </a:r>
          </a:p>
          <a:p>
            <a:pPr/>
            <a:r>
              <a:t>→ **正解**: BIMは概念。Revit、ArchiCAD等は実装ツール</a:t>
            </a:r>
          </a:p>
          <a:p>
            <a:pPr/>
            <a:r>
              <a:t>**誤解3**: 「図面が出ればBIMである」</a:t>
            </a:r>
          </a:p>
          <a:p>
            <a:pPr/>
            <a:r>
              <a:t>→ **正解**: 情報の一貫性と再利用性が重要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第1章｜BIMとは何か - 5. 確認問題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**問1**: BIMの定義として最も適切なものはどれか。</a:t>
            </a:r>
          </a:p>
          <a:p>
            <a:pPr/>
            <a:r>
              <a:t>- A. 建物の3次元モデルを作成する技術</a:t>
            </a:r>
          </a:p>
          <a:p>
            <a:pPr/>
            <a:r>
              <a:t>- B. 建物情報を統合管理するプロセス ✓</a:t>
            </a:r>
          </a:p>
          <a:p>
            <a:pPr/>
            <a:r>
              <a:t>- C. Autodesk Revitの略称</a:t>
            </a:r>
          </a:p>
          <a:p>
            <a:pPr/>
            <a:r>
              <a:t>- D. 建築図面をデジタル化する手法</a:t>
            </a:r>
          </a:p>
          <a:p>
            <a:pPr/>
            <a:r>
              <a:t>**問2**: CADとBIMの違いとして正しいものはどれか。</a:t>
            </a:r>
          </a:p>
          <a:p>
            <a:pPr/>
            <a:r>
              <a:t>- A. CADは2D、BIMは3D</a:t>
            </a:r>
          </a:p>
          <a:p>
            <a:pPr/>
            <a:r>
              <a:t>- B. CADは線、BIMはオブジェクト ✓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第2章｜建築生産とBIM - 1. 章のねらい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建築生産プロセス全体を理解します。</a:t>
            </a:r>
          </a:p>
          <a:p>
            <a:pPr/>
            <a:r>
              <a:t>情報が分断される理由を把握します。</a:t>
            </a:r>
          </a:p>
          <a:p>
            <a:pPr/>
            <a:r>
              <a:t>BIMが介在すると何が変わるかを説明できるようにします。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第2章｜建築生産とBIM - 2. キーワード定義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**建築生産プロセス**</a:t>
            </a:r>
          </a:p>
          <a:p>
            <a:pPr/>
            <a:r>
              <a:t>- 企画、設計、施工、維持管理の一連の流れ</a:t>
            </a:r>
          </a:p>
          <a:p>
            <a:pPr/>
            <a:r>
              <a:t>- それぞれのフェーズで異なる関係者が関与</a:t>
            </a:r>
          </a:p>
          <a:p>
            <a:pPr/>
            <a:r>
              <a:t>- 情報の受け渡しと変換が繰り返される</a:t>
            </a:r>
          </a:p>
          <a:p>
            <a:pPr/>
            <a:r>
              <a:t>**情報分断（サイロ化）**</a:t>
            </a:r>
          </a:p>
          <a:p>
            <a:pPr/>
            <a:r>
              <a:t>- フェーズ間で情報が引き継がれない状態</a:t>
            </a:r>
          </a:p>
          <a:p>
            <a:pPr/>
            <a:r>
              <a:t>- 同じ情報を何度も入力し直す無駄</a:t>
            </a:r>
          </a:p>
          <a:p>
            <a:pPr/>
            <a:r>
              <a:t>- 図面と現場の不整合の原因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第2章｜建築生産とBIM - 3. 本文解説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建築は複数の工程で成り立っています。</a:t>
            </a:r>
          </a:p>
          <a:p>
            <a:pPr/>
            <a:r>
              <a:t>各工程で情報が作られ、次工程へ渡されます。</a:t>
            </a:r>
          </a:p>
          <a:p>
            <a:pPr/>
            <a:r>
              <a:t>**従来の情報フロー（分断された状態）**:</a:t>
            </a:r>
          </a:p>
          <a:p>
            <a:pPr/>
            <a:r>
              <a:t>```</a:t>
            </a:r>
          </a:p>
          <a:p>
            <a:pPr/>
            <a:r>
              <a:t>企画 → 基本設計 → 実施設計 → 施工 → 維持管理</a:t>
            </a:r>
          </a:p>
          <a:p>
            <a:pPr/>
            <a:r>
              <a:t>↓      ↓         ↓         ↓      ↓</a:t>
            </a:r>
          </a:p>
          <a:p>
            <a:pPr/>
            <a:r>
              <a:t>文書   図面      詳細図     施工図  竣工図</a:t>
            </a:r>
          </a:p>
          <a:p>
            <a:pPr/>
            <a:r>
              <a:t>（それぞれ別々に作成・管理）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第2章｜建築生産とBIM - 4. 建築生産の各フェーズとBIM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**企画段階**:</a:t>
            </a:r>
          </a:p>
          <a:p>
            <a:pPr/>
            <a:r>
              <a:t>- 目的: プロジェクトの方向性決定</a:t>
            </a:r>
          </a:p>
          <a:p>
            <a:pPr/>
            <a:r>
              <a:t>- BIMの用途: ボリューム検討、概算コスト算出</a:t>
            </a:r>
          </a:p>
          <a:p>
            <a:pPr/>
            <a:r>
              <a:t>- LOD: 100（概念モデル）</a:t>
            </a:r>
          </a:p>
          <a:p>
            <a:pPr/>
            <a:r>
              <a:t>**基本設計段階**:</a:t>
            </a:r>
          </a:p>
          <a:p>
            <a:pPr/>
            <a:r>
              <a:t>- 目的: 設計方針の確定</a:t>
            </a:r>
          </a:p>
          <a:p>
            <a:pPr/>
            <a:r>
              <a:t>- BIMの用途: 空間構成、法規チェック</a:t>
            </a:r>
          </a:p>
          <a:p>
            <a:pPr/>
            <a:r>
              <a:t>- LOD: 200（概略モデル）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第2章｜建築生産とBIM - 5. よくある誤解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**誤解1**: 「BIMは設計だけのもの」</a:t>
            </a:r>
          </a:p>
          <a:p>
            <a:pPr/>
            <a:r>
              <a:t>→ **正解**: ライフサイクル全体で活用</a:t>
            </a:r>
          </a:p>
          <a:p>
            <a:pPr/>
            <a:r>
              <a:t>**誤解2**: 「施工や維持管理では使えない」</a:t>
            </a:r>
          </a:p>
          <a:p>
            <a:pPr/>
            <a:r>
              <a:t>→ **正解**: むしろ後工程ほど効果が大きい</a:t>
            </a:r>
          </a:p>
          <a:p>
            <a:pPr/>
            <a:r>
              <a:t>**誤解3**: 「BIMモデルは設計段階で完成」</a:t>
            </a:r>
          </a:p>
          <a:p>
            <a:pPr/>
            <a:r>
              <a:t>→ **正解**: 段階的に詳細化（LODの進化）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第3章｜BIMモデルの中身 - 1. 章のねらい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BIMモデルが何で構成されているかを理解します。</a:t>
            </a:r>
          </a:p>
          <a:p>
            <a:pPr/>
            <a:r>
              <a:t>形状情報と属性情報の違いを説明できるようにします。</a:t>
            </a:r>
          </a:p>
          <a:p>
            <a:pPr/>
            <a:r>
              <a:t>部材（Element）の概念を理解します。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第3章｜BIMモデルの中身 - 2. キーワード定義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**形状情報（Geometry）**</a:t>
            </a:r>
          </a:p>
          <a:p>
            <a:pPr/>
            <a:r>
              <a:t>- 3次元空間における位置、サイズ、形状</a:t>
            </a:r>
          </a:p>
          <a:p>
            <a:pPr/>
            <a:r>
              <a:t>- 長さ、幅、高さ、角度など</a:t>
            </a:r>
          </a:p>
          <a:p>
            <a:pPr/>
            <a:r>
              <a:t>- ビジュアル表現の基礎</a:t>
            </a:r>
          </a:p>
          <a:p>
            <a:pPr/>
            <a:r>
              <a:t>**属性情報（Property）**</a:t>
            </a:r>
          </a:p>
          <a:p>
            <a:pPr/>
            <a:r>
              <a:t>- 部材の性質を表す情報</a:t>
            </a:r>
          </a:p>
          <a:p>
            <a:pPr/>
            <a:r>
              <a:t>- 材質、仕上げ、コスト、性能など</a:t>
            </a:r>
          </a:p>
          <a:p>
            <a:pPr/>
            <a:r>
              <a:t>- 数値、文字列、リストなど多様な形式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第3章｜BIMモデルの中身 - 3. 本文解説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BIMモデルは形だけでは成立しません。</a:t>
            </a:r>
          </a:p>
          <a:p>
            <a:pPr/>
            <a:r>
              <a:t>属性情報があることで意味を持ちます。</a:t>
            </a:r>
          </a:p>
          <a:p>
            <a:pPr/>
            <a:r>
              <a:t>**壁を例にした構造**:</a:t>
            </a:r>
          </a:p>
          <a:p>
            <a:pPr/>
            <a:r>
              <a:t>```</a:t>
            </a:r>
          </a:p>
          <a:p>
            <a:pPr/>
            <a:r>
              <a:t>壁オブジェクト</a:t>
            </a:r>
          </a:p>
          <a:p>
            <a:pPr/>
            <a:r>
              <a:t>│</a:t>
            </a:r>
          </a:p>
          <a:p>
            <a:pPr/>
            <a:r>
              <a:t>├─ 形状情報</a:t>
            </a:r>
          </a:p>
          <a:p>
            <a:pPr/>
            <a:r>
              <a:t>│   ├─ 長さ: 5,000mm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第3章｜BIMモデルの中身 - 4. 図面との関係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**重要な概念**: 図面はモデルから派生する</a:t>
            </a:r>
          </a:p>
          <a:p>
            <a:pPr/>
            <a:r>
              <a:t>```</a:t>
            </a:r>
          </a:p>
          <a:p>
            <a:pPr/>
            <a:r>
              <a:t>BIMモデル（単一の情報源）</a:t>
            </a:r>
          </a:p>
          <a:p>
            <a:pPr/>
            <a:r>
              <a:t>↓</a:t>
            </a:r>
          </a:p>
          <a:p>
            <a:pPr/>
            <a:r>
              <a:t>各種ビュー（見方を変えただけ）</a:t>
            </a:r>
          </a:p>
          <a:p>
            <a:pPr/>
            <a:r>
              <a:t>├─ 平面図</a:t>
            </a:r>
          </a:p>
          <a:p>
            <a:pPr/>
            <a:r>
              <a:t>├─ 立面図</a:t>
            </a:r>
          </a:p>
          <a:p>
            <a:pPr/>
            <a:r>
              <a:t>├─ 断面図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第3章｜BIMモデルの中身 - 5. パラメータの種類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**タイプパラメータ**:</a:t>
            </a:r>
          </a:p>
          <a:p>
            <a:pPr/>
            <a:r>
              <a:t>- ファミリタイプ全体に適用</a:t>
            </a:r>
          </a:p>
          <a:p>
            <a:pPr/>
            <a:r>
              <a:t>- 例: 「W200 RC壁」のすべてに適用</a:t>
            </a:r>
          </a:p>
          <a:p>
            <a:pPr/>
            <a:r>
              <a:t>- 変更すると同タイプすべてが変更</a:t>
            </a:r>
          </a:p>
          <a:p>
            <a:pPr/>
            <a:r>
              <a:t>**インスタンスパラメータ**:</a:t>
            </a:r>
          </a:p>
          <a:p>
            <a:pPr/>
            <a:r>
              <a:t>- 個別の要素に適用</a:t>
            </a:r>
          </a:p>
          <a:p>
            <a:pPr/>
            <a:r>
              <a:t>- 例: 特定の壁1枚だけに適用</a:t>
            </a:r>
          </a:p>
          <a:p>
            <a:pPr/>
            <a:r>
              <a:t>- 他の同タイプには影響しない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第4章｜LODの考え方 - 1. 章のねらい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LODの正しい意味を理解します。</a:t>
            </a:r>
          </a:p>
          <a:p>
            <a:pPr/>
            <a:r>
              <a:t>LODを「細かさ」や「精密度」と誤解しないようにします。</a:t>
            </a:r>
          </a:p>
          <a:p>
            <a:pPr/>
            <a:r>
              <a:t>用途に応じた適切なLODを選択できるようにします。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第4章｜LODの考え方 - 2. キーワード定義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**LOD（Level of Development）**</a:t>
            </a:r>
          </a:p>
          <a:p>
            <a:pPr/>
            <a:r>
              <a:t>- 日本語: 開発レベル、詳細度</a:t>
            </a:r>
          </a:p>
          <a:p>
            <a:pPr/>
            <a:r>
              <a:t>- 用途に応じて「どの情報が必要か」を定める概念</a:t>
            </a:r>
          </a:p>
          <a:p>
            <a:pPr/>
            <a:r>
              <a:t>- LOD100〜500の段階的な定義</a:t>
            </a:r>
          </a:p>
          <a:p>
            <a:pPr/>
            <a:r>
              <a:t>- 「細かさ」ではなく「情報の信頼性」</a:t>
            </a:r>
          </a:p>
          <a:p>
            <a:pPr/>
            <a:r>
              <a:t>**LODの誤解**</a:t>
            </a:r>
          </a:p>
          <a:p>
            <a:pPr/>
            <a:r>
              <a:t>- ❌ LOD＝モデルの精密度</a:t>
            </a:r>
          </a:p>
          <a:p>
            <a:pPr/>
            <a:r>
              <a:t>- ❌ LOD＝3Dの細かさ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第4章｜LODの考え方 - 3. 本文解説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LODはモデルの精密さを示す指標ではありません。</a:t>
            </a:r>
          </a:p>
          <a:p>
            <a:pPr/>
            <a:r>
              <a:t>どの段階で、どの情報が必要かを定める概念です。</a:t>
            </a:r>
          </a:p>
          <a:p>
            <a:pPr/>
            <a:r>
              <a:t>**LODの段階的定義**:</a:t>
            </a:r>
          </a:p>
          <a:p>
            <a:pPr/>
            <a:r>
              <a:t>**LOD 100（概念モデル）**</a:t>
            </a:r>
          </a:p>
          <a:p>
            <a:pPr/>
            <a:r>
              <a:t>- フェーズ: 企画段階</a:t>
            </a:r>
          </a:p>
          <a:p>
            <a:pPr/>
            <a:r>
              <a:t>- 内容: ボリューム、大まかな形状</a:t>
            </a:r>
          </a:p>
          <a:p>
            <a:pPr/>
            <a:r>
              <a:t>- 用途: 計画検討、概算コスト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第4章｜LODの考え方 - 4. LODの実務的理解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**重要な原則**:</a:t>
            </a:r>
          </a:p>
          <a:p>
            <a:pPr/>
            <a:r>
              <a:t>1. LODは段階的に上げる（最初から500を目指さない）</a:t>
            </a:r>
          </a:p>
          <a:p>
            <a:pPr/>
            <a:r>
              <a:t>2. 用途に応じて必要なLODを選ぶ</a:t>
            </a:r>
          </a:p>
          <a:p>
            <a:pPr/>
            <a:r>
              <a:t>3. すべての部材を同じLODにする必要はない</a:t>
            </a:r>
          </a:p>
          <a:p>
            <a:pPr/>
            <a:r>
              <a:t>**部材ごとのLOD設定例**:</a:t>
            </a:r>
          </a:p>
          <a:p>
            <a:pPr/>
            <a:r>
              <a:t>```</a:t>
            </a:r>
          </a:p>
          <a:p>
            <a:pPr/>
            <a:r>
              <a:t>実施設計段階のプロジェクト:</a:t>
            </a:r>
          </a:p>
          <a:p>
            <a:pPr/>
            <a:r>
              <a:t>├─ 構造躯体: LOD 300（詳細確定）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第4章｜LODの考え方 - 5. よくある誤解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**誤解1**: 「LOD＝詳細度」</a:t>
            </a:r>
          </a:p>
          <a:p>
            <a:pPr/>
            <a:r>
              <a:t>→ **正解**: 詳細度ではなく「開発レベル」「確定度」</a:t>
            </a:r>
          </a:p>
          <a:p>
            <a:pPr/>
            <a:r>
              <a:t>**誤解2**: 「高LOD＝良いモデル」</a:t>
            </a:r>
          </a:p>
          <a:p>
            <a:pPr/>
            <a:r>
              <a:t>→ **正解**: 用途に適したLODが良いモデル</a:t>
            </a:r>
          </a:p>
          <a:p>
            <a:pPr/>
            <a:r>
              <a:t>**誤解3**: 「最初からLOD500を目指すべき」</a:t>
            </a:r>
          </a:p>
          <a:p>
            <a:pPr/>
            <a:r>
              <a:t>→ **正解**: 段階的に上げる。早期の過剰詳細は無駄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第5章｜IFCとOPEN BIM - 1. 章のねらい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異なるソフト間でBIMが成立する理由を理解します。</a:t>
            </a:r>
          </a:p>
          <a:p>
            <a:pPr/>
            <a:r>
              <a:t>IFCの役割を説明できるようにします。</a:t>
            </a:r>
          </a:p>
          <a:p>
            <a:pPr/>
            <a:r>
              <a:t>OPEN BIMの概念を理解します。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第5章｜IFCとOPEN BIM - 2. キーワード定義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**IFC（Industry Foundation Classes）**</a:t>
            </a:r>
          </a:p>
          <a:p>
            <a:pPr/>
            <a:r>
              <a:t>- BIMデータの国際標準フォーマット</a:t>
            </a:r>
          </a:p>
          <a:p>
            <a:pPr/>
            <a:r>
              <a:t>- ISO 16739として国際規格化</a:t>
            </a:r>
          </a:p>
          <a:p>
            <a:pPr/>
            <a:r>
              <a:t>- ソフトウェア間のデータ交換を可能にする</a:t>
            </a:r>
          </a:p>
          <a:p>
            <a:pPr/>
            <a:r>
              <a:t>- buildingSMARTが策定・管理</a:t>
            </a:r>
          </a:p>
          <a:p>
            <a:pPr/>
            <a:r>
              <a:t>**OPEN BIM**</a:t>
            </a:r>
          </a:p>
          <a:p>
            <a:pPr/>
            <a:r>
              <a:t>- 特定ソフトに依存しないBIM運用</a:t>
            </a:r>
          </a:p>
          <a:p>
            <a:pPr/>
            <a:r>
              <a:t>- IFCを中心とした情報交換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第5章｜IFCとOPEN BIM - 3. 本文解説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BIMは特定ソフトに依存しません。</a:t>
            </a:r>
          </a:p>
          <a:p>
            <a:pPr/>
            <a:r>
              <a:t>IFCは情報を受け渡すための共通言語です。</a:t>
            </a:r>
          </a:p>
          <a:p>
            <a:pPr/>
            <a:r>
              <a:t>**なぜIFCが必要か**:</a:t>
            </a:r>
          </a:p>
          <a:p>
            <a:pPr/>
            <a:r>
              <a:t>従来のCADでは、ソフトごとに独自のファイル形式：</a:t>
            </a:r>
          </a:p>
          <a:p>
            <a:pPr/>
            <a:r>
              <a:t>```</a:t>
            </a:r>
          </a:p>
          <a:p>
            <a:pPr/>
            <a:r>
              <a:t>Revit (.rvt)</a:t>
            </a:r>
          </a:p>
          <a:p>
            <a:pPr/>
            <a:r>
              <a:t>ArchiCAD (.pln)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第5章｜IFCとOPEN BIM - 4. OPEN BIMのワークフロー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**実務での活用例**:</a:t>
            </a:r>
          </a:p>
          <a:p>
            <a:pPr/>
            <a:r>
              <a:t>```</a:t>
            </a:r>
          </a:p>
          <a:p>
            <a:pPr/>
            <a:r>
              <a:t>意匠設計（Revit）</a:t>
            </a:r>
          </a:p>
          <a:p>
            <a:pPr/>
            <a:r>
              <a:t>↓ IFC出力</a:t>
            </a:r>
          </a:p>
          <a:p>
            <a:pPr/>
            <a:r>
              <a:t>構造設計（midas Gen）</a:t>
            </a:r>
          </a:p>
          <a:p>
            <a:pPr/>
            <a:r>
              <a:t>↓ IFC出力</a:t>
            </a:r>
          </a:p>
          <a:p>
            <a:pPr/>
            <a:r>
              <a:t>設備設計（Rebro）</a:t>
            </a:r>
          </a:p>
          <a:p>
            <a:pPr/>
            <a:r>
              <a:t>↓ IFC出力</a:t>
            </a:r>
          </a:p>
          <a:p>
            <a:pPr/>
            <a:r>
              <a:t>総合調整（Solibri）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第5章｜IFCとOPEN BIM - 5. IFCのバージョン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**主なバージョン**:</a:t>
            </a:r>
          </a:p>
          <a:p>
            <a:pPr/>
            <a:r>
              <a:t>- IFC2x3: 広く普及（2006年）</a:t>
            </a:r>
          </a:p>
          <a:p>
            <a:pPr/>
            <a:r>
              <a:t>- IFC4: 最新の推奨版（2013年）</a:t>
            </a:r>
          </a:p>
          <a:p>
            <a:pPr/>
            <a:r>
              <a:t>- IFC4.3: インフラ対応（2021年）</a:t>
            </a:r>
          </a:p>
          <a:p>
            <a:pPr/>
            <a:r>
              <a:t>**バージョン指定の重要性**:</a:t>
            </a:r>
          </a:p>
          <a:p>
            <a:pPr/>
            <a:r>
              <a:t>```</a:t>
            </a:r>
          </a:p>
          <a:p>
            <a:pPr/>
            <a:r>
              <a:t>Revit → IFC4 → ArchiCAD</a:t>
            </a:r>
          </a:p>
          <a:p>
            <a:pPr/>
            <a:r>
              <a:t>↑               ↓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第6章｜BIM導入の効果と注意点 - 1. 章のねらい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BIM導入の効果を正しく理解します。</a:t>
            </a:r>
          </a:p>
          <a:p>
            <a:pPr/>
            <a:r>
              <a:t>万能ではない点も説明できるようにします。</a:t>
            </a:r>
          </a:p>
          <a:p>
            <a:pPr/>
            <a:r>
              <a:t>導入成功のポイントを把握します。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第6章｜BIM導入の効果と注意点 - 2. キーワード定義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**BIM導入の効果**</a:t>
            </a:r>
          </a:p>
          <a:p>
            <a:pPr/>
            <a:r>
              <a:t>- 設計品質の向上</a:t>
            </a:r>
          </a:p>
          <a:p>
            <a:pPr/>
            <a:r>
              <a:t>- 業務効率化</a:t>
            </a:r>
          </a:p>
          <a:p>
            <a:pPr/>
            <a:r>
              <a:t>- コミュニケーション改善</a:t>
            </a:r>
          </a:p>
          <a:p>
            <a:pPr/>
            <a:r>
              <a:t>- コスト削減（中長期的）</a:t>
            </a:r>
          </a:p>
          <a:p>
            <a:pPr/>
            <a:r>
              <a:t>**BIM導入の課題**</a:t>
            </a:r>
          </a:p>
          <a:p>
            <a:pPr/>
            <a:r>
              <a:t>- 初期投資（ソフト・教育）</a:t>
            </a:r>
          </a:p>
          <a:p>
            <a:pPr/>
            <a:r>
              <a:t>- 運用ルールの整備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第6章｜BIM導入の効果と注意点 - 3. 本文解説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**BIM導入の主な効果**:</a:t>
            </a:r>
          </a:p>
          <a:p>
            <a:pPr/>
            <a:r>
              <a:t>**1. 設計ミスの削減**</a:t>
            </a:r>
          </a:p>
          <a:p>
            <a:pPr/>
            <a:r>
              <a:t>```</a:t>
            </a:r>
          </a:p>
          <a:p>
            <a:pPr/>
            <a:r>
              <a:t>従来: 平面図と立面図で壁位置が不一致</a:t>
            </a:r>
          </a:p>
          <a:p>
            <a:pPr/>
            <a:r>
              <a:t>BIM: 1つのモデルなので自動整合</a:t>
            </a:r>
          </a:p>
          <a:p>
            <a:pPr/>
            <a:r>
              <a:t>```</a:t>
            </a:r>
          </a:p>
          <a:p>
            <a:pPr/>
            <a:r>
              <a:t>**2. 設計変更への対応**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第6章｜BIM導入の効果と注意点 - 4. 導入時の注意点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**注意点1: 初期投資**</a:t>
            </a:r>
          </a:p>
          <a:p>
            <a:pPr/>
            <a:r>
              <a:t>- ソフトウェアライセンス</a:t>
            </a:r>
          </a:p>
          <a:p>
            <a:pPr/>
            <a:r>
              <a:t>- ハードウェア（高性能PC）</a:t>
            </a:r>
          </a:p>
          <a:p>
            <a:pPr/>
            <a:r>
              <a:t>- 教育・トレーニング</a:t>
            </a:r>
          </a:p>
          <a:p>
            <a:pPr/>
            <a:r>
              <a:t>- 運用ルール策定</a:t>
            </a:r>
          </a:p>
          <a:p>
            <a:pPr/>
            <a:r>
              <a:t>**注意点2: 運用設計が必須**</a:t>
            </a:r>
          </a:p>
          <a:p>
            <a:pPr/>
            <a:r>
              <a:t>```</a:t>
            </a:r>
          </a:p>
          <a:p>
            <a:pPr/>
            <a:r>
              <a:t>✗ BIMソフトを買えば自動で効率化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第6章｜BIM導入の効果と注意点 - 5. 導入成功のポイント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**ポイント1: 明確な目標設定**</a:t>
            </a:r>
          </a:p>
          <a:p>
            <a:pPr/>
            <a:r>
              <a:t>- 何のためにBIMを導入するのか</a:t>
            </a:r>
          </a:p>
          <a:p>
            <a:pPr/>
            <a:r>
              <a:t>- どの段階で、どの効果を期待するのか</a:t>
            </a:r>
          </a:p>
          <a:p>
            <a:pPr/>
            <a:r>
              <a:t>**ポイント2: 段階的導入**</a:t>
            </a:r>
          </a:p>
          <a:p>
            <a:pPr/>
            <a:r>
              <a:t>```</a:t>
            </a:r>
          </a:p>
          <a:p>
            <a:pPr/>
            <a:r>
              <a:t>Phase 1: パイロットプロジェクトで試行</a:t>
            </a:r>
          </a:p>
          <a:p>
            <a:pPr/>
            <a:r>
              <a:t>Phase 2: 標準化・ルール整備</a:t>
            </a:r>
          </a:p>
          <a:p>
            <a:pPr/>
            <a:r>
              <a:t>Phase 3: 全社展開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第7章｜2級試験対策 - 1. 出題傾向分析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**2級試験の特徴**:</a:t>
            </a:r>
          </a:p>
          <a:p>
            <a:pPr/>
            <a:r>
              <a:t>- 選択式問題（マークシート）</a:t>
            </a:r>
          </a:p>
          <a:p>
            <a:pPr/>
            <a:r>
              <a:t>- BIMの基本概念の理解を問う</a:t>
            </a:r>
          </a:p>
          <a:p>
            <a:pPr/>
            <a:r>
              <a:t>- 実技試験はなし（知識のみ）</a:t>
            </a:r>
          </a:p>
          <a:p>
            <a:pPr/>
            <a:r>
              <a:t>- 合格基準: 60点以上/100点</a:t>
            </a:r>
          </a:p>
          <a:p>
            <a:pPr/>
            <a:r>
              <a:t>**主な出題分野**:</a:t>
            </a:r>
          </a:p>
          <a:p>
            <a:pPr/>
            <a:r>
              <a:t>1. BIMの定義と概念（20%）</a:t>
            </a:r>
          </a:p>
          <a:p>
            <a:pPr/>
            <a:r>
              <a:t>2. 建築生産プロセス（15%）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第7章｜2級試験対策 - 2. 頻出の誤解パターン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**パターン1: BIM＝3D**</a:t>
            </a:r>
          </a:p>
          <a:p>
            <a:pPr/>
            <a:r>
              <a:t>```</a:t>
            </a:r>
          </a:p>
          <a:p>
            <a:pPr/>
            <a:r>
              <a:t>❌ BIMは3Dモデルである</a:t>
            </a:r>
          </a:p>
          <a:p>
            <a:pPr/>
            <a:r>
              <a:t>✓ BIMは情報統合の仕組み</a:t>
            </a:r>
          </a:p>
          <a:p>
            <a:pPr/>
            <a:r>
              <a:t>```</a:t>
            </a:r>
          </a:p>
          <a:p>
            <a:pPr/>
            <a:r>
              <a:t>**パターン2: BIM＝ソフト名**</a:t>
            </a:r>
          </a:p>
          <a:p>
            <a:pPr/>
            <a:r>
              <a:t>```</a:t>
            </a:r>
          </a:p>
          <a:p>
            <a:pPr/>
            <a:r>
              <a:t>❌ BIMはRevitのこと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第7章｜2級試験対策 - 3. 重要用語チェックリスト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**必須用語**:</a:t>
            </a:r>
          </a:p>
          <a:p>
            <a:pPr/>
            <a:r>
              <a:t>□ BIM（Building Information Modeling）</a:t>
            </a:r>
          </a:p>
          <a:p>
            <a:pPr/>
            <a:r>
              <a:t>□ LOD（Level of Development）</a:t>
            </a:r>
          </a:p>
          <a:p>
            <a:pPr/>
            <a:r>
              <a:t>□ IFC（Industry Foundation Classes）</a:t>
            </a:r>
          </a:p>
          <a:p>
            <a:pPr/>
            <a:r>
              <a:t>□ OPEN BIM</a:t>
            </a:r>
          </a:p>
          <a:p>
            <a:pPr/>
            <a:r>
              <a:t>□ 形状情報（Geometry）</a:t>
            </a:r>
          </a:p>
          <a:p>
            <a:pPr/>
            <a:r>
              <a:t>□ 属性情報（Property）</a:t>
            </a:r>
          </a:p>
          <a:p>
            <a:pPr/>
            <a:r>
              <a:t>□ 部材（Element）</a:t>
            </a:r>
          </a:p>
          <a:p>
            <a:pPr/>
            <a:r>
              <a:t>□ パラメータ（Parameter）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第7章｜2級試験対策 - 4. 模擬問題（厳選20問）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**問題1**: BIMの定義として最も適切なものは？</a:t>
            </a:r>
          </a:p>
          <a:p>
            <a:pPr/>
            <a:r>
              <a:t>A. 建物の3Dモデル作成技術</a:t>
            </a:r>
          </a:p>
          <a:p>
            <a:pPr/>
            <a:r>
              <a:t>B. 建物情報を統合管理するプロセス ✓</a:t>
            </a:r>
          </a:p>
          <a:p>
            <a:pPr/>
            <a:r>
              <a:t>C. Autodesk社の製品</a:t>
            </a:r>
          </a:p>
          <a:p>
            <a:pPr/>
            <a:r>
              <a:t>D. CADの進化版</a:t>
            </a:r>
          </a:p>
          <a:p>
            <a:pPr/>
            <a:r>
              <a:t>**問題2**: BIMモデルの基本単位は？</a:t>
            </a:r>
          </a:p>
          <a:p>
            <a:pPr/>
            <a:r>
              <a:t>A. 線（Line）</a:t>
            </a:r>
          </a:p>
          <a:p>
            <a:pPr/>
            <a:r>
              <a:t>B. 要素（Element） ✓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第7章｜2級試験対策 - 5. 学習のポイント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**重点学習項目**:</a:t>
            </a:r>
          </a:p>
          <a:p>
            <a:pPr/>
            <a:r>
              <a:t>1. BIMの定義を正確に理解</a:t>
            </a:r>
          </a:p>
          <a:p>
            <a:pPr/>
            <a:r>
              <a:t>2. CADとの違いを説明できる</a:t>
            </a:r>
          </a:p>
          <a:p>
            <a:pPr/>
            <a:r>
              <a:t>3. LODの概念を理解</a:t>
            </a:r>
          </a:p>
          <a:p>
            <a:pPr/>
            <a:r>
              <a:t>4. IFCの役割を説明できる</a:t>
            </a:r>
          </a:p>
          <a:p>
            <a:pPr/>
            <a:r>
              <a:t>5. 建築生産プロセスを理解</a:t>
            </a:r>
          </a:p>
          <a:p>
            <a:pPr/>
            <a:r>
              <a:t>**暗記すべき事項**:</a:t>
            </a:r>
          </a:p>
          <a:p>
            <a:pPr/>
            <a:r>
              <a:t>- LOD100〜500の定義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