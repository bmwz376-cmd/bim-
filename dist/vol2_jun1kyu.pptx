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BIM利用技術者試験準1級対応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教科書・講義スライド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第1章｜建築をBIMで表現するとは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建築図面とBIMの関係を深く理解します。</a:t>
            </a:r>
          </a:p>
          <a:p>
            <a:pPr/>
            <a:r>
              <a:t>平面・断面・立面の整合性を意識します。</a:t>
            </a:r>
          </a:p>
          <a:p>
            <a:pPr/>
            <a:r>
              <a:t>モデリングにおける「レベル」の重要性を理解します。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第1章｜建築をBIMで表現するとは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**レベル（Level）**</a:t>
            </a:r>
          </a:p>
          <a:p>
            <a:pPr/>
            <a:r>
              <a:t>- 基準となる高さ位置</a:t>
            </a:r>
          </a:p>
          <a:p>
            <a:pPr/>
            <a:r>
              <a:t>- 階の基準として機能</a:t>
            </a:r>
          </a:p>
          <a:p>
            <a:pPr/>
            <a:r>
              <a:t>- 部材の配置基準</a:t>
            </a:r>
          </a:p>
          <a:p>
            <a:pPr/>
            <a:r>
              <a:t>**ビュー（View）**</a:t>
            </a:r>
          </a:p>
          <a:p>
            <a:pPr/>
            <a:r>
              <a:t>- モデルの見方</a:t>
            </a:r>
          </a:p>
          <a:p>
            <a:pPr/>
            <a:r>
              <a:t>- 平面図、立面図、断面図、3Dビュー</a:t>
            </a:r>
          </a:p>
          <a:p>
            <a:pPr/>
            <a:r>
              <a:t>- 同一モデルの異なる表現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第1章｜建築をBIMで表現するとは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建築図面は、3次元の建物を2次元で表現したものです。</a:t>
            </a:r>
          </a:p>
          <a:p>
            <a:pPr/>
            <a:r>
              <a:t>BIMでは、3次元モデルから各種図面を生成します。</a:t>
            </a:r>
          </a:p>
          <a:p>
            <a:pPr/>
            <a:r>
              <a:t>**従来のCAD（2D）**:</a:t>
            </a:r>
          </a:p>
          <a:p>
            <a:pPr/>
            <a:r>
              <a:t>```</a:t>
            </a:r>
          </a:p>
          <a:p>
            <a:pPr/>
            <a:r>
              <a:t>平面図 ─┐</a:t>
            </a:r>
          </a:p>
          <a:p>
            <a:pPr/>
            <a:r>
              <a:t>立面図 ─┼─ 個別に作図</a:t>
            </a:r>
          </a:p>
          <a:p>
            <a:pPr/>
            <a:r>
              <a:t>断面図 ─┘</a:t>
            </a:r>
          </a:p>
          <a:p>
            <a:pPr/>
            <a: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第1章｜建築をBIMで表現するとは - 4. レベルの重要性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**レベルの役割**:</a:t>
            </a:r>
          </a:p>
          <a:p>
            <a:pPr/>
            <a:r>
              <a:t>1. 階の基準高さを定義</a:t>
            </a:r>
          </a:p>
          <a:p>
            <a:pPr/>
            <a:r>
              <a:t>2. 部材の配置基準</a:t>
            </a:r>
          </a:p>
          <a:p>
            <a:pPr/>
            <a:r>
              <a:t>3. ビュー（平面図）の作成基準</a:t>
            </a:r>
          </a:p>
          <a:p>
            <a:pPr/>
            <a:r>
              <a:t>**典型的なレベル設定**:</a:t>
            </a:r>
          </a:p>
          <a:p>
            <a:pPr/>
            <a:r>
              <a:t>```</a:t>
            </a:r>
          </a:p>
          <a:p>
            <a:pPr/>
            <a:r>
              <a:t>RFL (4階)      : +12,000</a:t>
            </a:r>
          </a:p>
          <a:p>
            <a:pPr/>
            <a:r>
              <a:t>RFL (3階)      : +9,000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第1章｜建築をBIMで表現するとは - 5. ビューの種類と用途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**平面図（Plan View）**:</a:t>
            </a:r>
          </a:p>
          <a:p>
            <a:pPr/>
            <a:r>
              <a:t>- 各階の水平断面</a:t>
            </a:r>
          </a:p>
          <a:p>
            <a:pPr/>
            <a:r>
              <a:t>- 主要な作業ビュー</a:t>
            </a:r>
          </a:p>
          <a:p>
            <a:pPr/>
            <a:r>
              <a:t>- 壁・柱・開口部の配置</a:t>
            </a:r>
          </a:p>
          <a:p>
            <a:pPr/>
            <a:r>
              <a:t>**立面図（Elevation View）**:</a:t>
            </a:r>
          </a:p>
          <a:p>
            <a:pPr/>
            <a:r>
              <a:t>- 建物の外観</a:t>
            </a:r>
          </a:p>
          <a:p>
            <a:pPr/>
            <a:r>
              <a:t>- 東西南北の4方向</a:t>
            </a:r>
          </a:p>
          <a:p>
            <a:pPr/>
            <a:r>
              <a:t>- 高さ関係の確認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第2章｜BIMモデリングの考え方（後工程を考える）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モデリングは自分だけでなく、後工程の人が使うことを意識します。</a:t>
            </a:r>
          </a:p>
          <a:p>
            <a:pPr/>
            <a:r>
              <a:t>わかりやすく、修正しやすいモデルの作り方を学びます。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第2章｜BIMモデリングの考え方（後工程を考える）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**後工程思考**</a:t>
            </a:r>
          </a:p>
          <a:p>
            <a:pPr/>
            <a:r>
              <a:t>- 次の作業者を意識したモデリング</a:t>
            </a:r>
          </a:p>
          <a:p>
            <a:pPr/>
            <a:r>
              <a:t>- 修正しやすい構造</a:t>
            </a:r>
          </a:p>
          <a:p>
            <a:pPr/>
            <a:r>
              <a:t>- 意図が伝わる命名</a:t>
            </a:r>
          </a:p>
          <a:p>
            <a:pPr/>
            <a:r>
              <a:t>**モデルの可読性**</a:t>
            </a:r>
          </a:p>
          <a:p>
            <a:pPr/>
            <a:r>
              <a:t>- 他人が見てわかる</a:t>
            </a:r>
          </a:p>
          <a:p>
            <a:pPr/>
            <a:r>
              <a:t>- 構造が理解しやすい</a:t>
            </a:r>
          </a:p>
          <a:p>
            <a:pPr/>
            <a:r>
              <a:t>- 命名規則の統一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第2章｜BIMモデリングの考え方（後工程を考える）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**悪いモデリングの例**:</a:t>
            </a:r>
          </a:p>
          <a:p>
            <a:pPr/>
            <a:r>
              <a:t>```</a:t>
            </a:r>
          </a:p>
          <a:p>
            <a:pPr/>
            <a:r>
              <a:t>❌ 部材名が「壁1」「壁2」</a:t>
            </a:r>
          </a:p>
          <a:p>
            <a:pPr/>
            <a:r>
              <a:t>❌ すべての壁が1つの大きな壁</a:t>
            </a:r>
          </a:p>
          <a:p>
            <a:pPr/>
            <a:r>
              <a:t>❌ レベル・グリッドを無視</a:t>
            </a:r>
          </a:p>
          <a:p>
            <a:pPr/>
            <a:r>
              <a:t>❌ 不要な部材が残っている</a:t>
            </a:r>
          </a:p>
          <a:p>
            <a:pPr/>
            <a:r>
              <a:t>```</a:t>
            </a:r>
          </a:p>
          <a:p>
            <a:pPr/>
            <a:r>
              <a:t>**良いモデリングの例**: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第2章｜BIMモデリングの考え方（後工程を考える） - 4. 命名規則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**プロジェクトでの統一が重要**:</a:t>
            </a:r>
          </a:p>
          <a:p>
            <a:pPr/>
            <a:r>
              <a:t>```</a:t>
            </a:r>
          </a:p>
          <a:p>
            <a:pPr/>
            <a:r>
              <a:t>レベル名:</a:t>
            </a:r>
          </a:p>
          <a:p>
            <a:pPr/>
            <a:r>
              <a:t>1FL, 2FL, 3FL...</a:t>
            </a:r>
          </a:p>
          <a:p>
            <a:pPr/>
            <a:r>
              <a:t>グリッド名:</a:t>
            </a:r>
          </a:p>
          <a:p>
            <a:pPr/>
            <a:r>
              <a:t>X1, X2, X3...</a:t>
            </a:r>
          </a:p>
          <a:p>
            <a:pPr/>
            <a:r>
              <a:t>Y1, Y2, Y3...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第2章｜BIMモデリングの考え方（後工程を考える） - 5. モデル構造の工夫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**適切な分割**:</a:t>
            </a:r>
          </a:p>
          <a:p>
            <a:pPr/>
            <a:r>
              <a:t>```</a:t>
            </a:r>
          </a:p>
          <a:p>
            <a:pPr/>
            <a:r>
              <a:t>✓ 構造的に意味のある単位</a:t>
            </a:r>
          </a:p>
          <a:p>
            <a:pPr/>
            <a:r>
              <a:t>✓ 施工単位を意識</a:t>
            </a:r>
          </a:p>
          <a:p>
            <a:pPr/>
            <a:r>
              <a:t>✓ 後から修正しやすい</a:t>
            </a:r>
          </a:p>
          <a:p>
            <a:pPr/>
            <a:r>
              <a:t>```</a:t>
            </a:r>
          </a:p>
          <a:p>
            <a:pPr/>
            <a:r>
              <a:t>**グループ化**: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第3章｜試験で評価されるポイント（採点者目線）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準1級試験は実技試験です。</a:t>
            </a:r>
          </a:p>
          <a:p>
            <a:pPr/>
            <a:r>
              <a:t>何が評価され、何が減点対象かを理解します。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第3章｜試験で評価されるポイント（採点者目線） - 2. 評価ポイント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**必須要件（できないと不合格）**:</a:t>
            </a:r>
          </a:p>
          <a:p>
            <a:pPr/>
            <a:r>
              <a:t>- 課題どおりの形状</a:t>
            </a:r>
          </a:p>
          <a:p>
            <a:pPr/>
            <a:r>
              <a:t>- 正確な寸法</a:t>
            </a:r>
          </a:p>
          <a:p>
            <a:pPr/>
            <a:r>
              <a:t>- 指定された部材種類</a:t>
            </a:r>
          </a:p>
          <a:p>
            <a:pPr/>
            <a:r>
              <a:t>- 必要なビュー作成</a:t>
            </a:r>
          </a:p>
          <a:p>
            <a:pPr/>
            <a:r>
              <a:t>**加点要素**:</a:t>
            </a:r>
          </a:p>
          <a:p>
            <a:pPr/>
            <a:r>
              <a:t>- 整理されたモデル構造</a:t>
            </a:r>
          </a:p>
          <a:p>
            <a:pPr/>
            <a:r>
              <a:t>- 適切な命名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第3章｜試験で評価されるポイント（採点者目線） - 3. よくある減点理由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**1. 寸法誤差**</a:t>
            </a:r>
          </a:p>
          <a:p>
            <a:pPr/>
            <a:r>
              <a:t>```</a:t>
            </a:r>
          </a:p>
          <a:p>
            <a:pPr/>
            <a:r>
              <a:t>❌ 指定: 5,000mm</a:t>
            </a:r>
          </a:p>
          <a:p>
            <a:pPr/>
            <a:r>
              <a:t>作成: 4,980mm</a:t>
            </a:r>
          </a:p>
          <a:p>
            <a:pPr/>
            <a:r>
              <a:t>→ 減点</a:t>
            </a:r>
          </a:p>
          <a:p>
            <a:pPr/>
            <a:r>
              <a:t>```</a:t>
            </a:r>
          </a:p>
          <a:p>
            <a:pPr/>
            <a:r>
              <a:t>**2. レベル設定ミス**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第3章｜試験で評価されるポイント（採点者目線） - 4. 時間配分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**試験時間: 120分**</a:t>
            </a:r>
          </a:p>
          <a:p>
            <a:pPr/>
            <a:r>
              <a:t>推奨配分:</a:t>
            </a:r>
          </a:p>
          <a:p>
            <a:pPr/>
            <a:r>
              <a:t>```</a:t>
            </a:r>
          </a:p>
          <a:p>
            <a:pPr/>
            <a:r>
              <a:t>0-10分    : 課題読解・計画</a:t>
            </a:r>
          </a:p>
          <a:p>
            <a:pPr/>
            <a:r>
              <a:t>10-90分   : モデリング</a:t>
            </a:r>
          </a:p>
          <a:p>
            <a:pPr/>
            <a:r>
              <a:t>90-110分  : 図面作成・調整</a:t>
            </a:r>
          </a:p>
          <a:p>
            <a:pPr/>
            <a:r>
              <a:t>110-120分 : 最終チェック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第3章｜試験で評価されるポイント（採点者目線） - 5. 確認問題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（準1級向け実践問題）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第4章｜よくある失敗例（レベル・壁・床）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準1級試験でよく見られる失敗パターンを理解します。</a:t>
            </a:r>
          </a:p>
          <a:p>
            <a:pPr/>
            <a:r>
              <a:t>レベル・壁・床の正しいモデリング方法を習得します。</a:t>
            </a:r>
          </a:p>
          <a:p>
            <a:pPr/>
            <a:r>
              <a:t>失敗から学び、同じミスを避けられるようにします。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第4章｜よくある失敗例（レベル・壁・床） - 2. レベル関連の失敗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**失敗例1: レベル名の誤り**</a:t>
            </a:r>
          </a:p>
          <a:p>
            <a:pPr/>
            <a:r>
              <a:t>```</a:t>
            </a:r>
          </a:p>
          <a:p>
            <a:pPr/>
            <a:r>
              <a:t>❌ NG: レベル名「レベル1」「レベル2」（日本語）</a:t>
            </a:r>
          </a:p>
          <a:p>
            <a:pPr/>
            <a:r>
              <a:t>✓ OK: 「1FL」「2FL」「3FL」（統一された英数字）</a:t>
            </a:r>
          </a:p>
          <a:p>
            <a:pPr/>
            <a:r>
              <a:t>```</a:t>
            </a:r>
          </a:p>
          <a:p>
            <a:pPr/>
            <a:r>
              <a:t>**問題点**:</a:t>
            </a:r>
          </a:p>
          <a:p>
            <a:pPr/>
            <a:r>
              <a:t>- ソフトウェアによっては日本語に対応していない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第4章｜よくある失敗例（レベル・壁・床） - 3. 壁関連の失敗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**失敗例1: 壁の高さ設定の誤り**</a:t>
            </a:r>
          </a:p>
          <a:p>
            <a:pPr/>
            <a:r>
              <a:t>```</a:t>
            </a:r>
          </a:p>
          <a:p>
            <a:pPr/>
            <a:r>
              <a:t>❌ NG: 壁の上端を「オフセット 2700mm」で指定</a:t>
            </a:r>
          </a:p>
          <a:p>
            <a:pPr/>
            <a:r>
              <a:t>✓ OK: 壁の上端を「上階レベル（3FL）」で指定</a:t>
            </a:r>
          </a:p>
          <a:p>
            <a:pPr/>
            <a:r>
              <a:t>```</a:t>
            </a:r>
          </a:p>
          <a:p>
            <a:pPr/>
            <a:r>
              <a:t>**問題点**:</a:t>
            </a:r>
          </a:p>
          <a:p>
            <a:pPr/>
            <a:r>
              <a:t>- 階高変更時に手動で全壁を修正する必要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第4章｜よくある失敗例（レベル・壁・床） - 4. 床関連の失敗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**失敗例1: 床のレベル設定ミス**</a:t>
            </a:r>
          </a:p>
          <a:p>
            <a:pPr/>
            <a:r>
              <a:t>```</a:t>
            </a:r>
          </a:p>
          <a:p>
            <a:pPr/>
            <a:r>
              <a:t>❌ NG: 2階の床を「1FL」レベルに作成</a:t>
            </a:r>
          </a:p>
          <a:p>
            <a:pPr/>
            <a:r>
              <a:t>結果: 高さが3m低い位置に床が配置される</a:t>
            </a:r>
          </a:p>
          <a:p>
            <a:pPr/>
            <a:r>
              <a:t>対策: 床作成前に必ずアクティブレベルを確認</a:t>
            </a:r>
          </a:p>
          <a:p>
            <a:pPr/>
            <a:r>
              <a:t>```</a:t>
            </a:r>
          </a:p>
          <a:p>
            <a:pPr/>
            <a:r>
              <a:t>**詳細**: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第4章｜よくある失敗例（レベル・壁・床） - 5. 試験での減点を避けるチェックリスト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**提出前の必須確認**:</a:t>
            </a:r>
          </a:p>
          <a:p>
            <a:pPr/>
            <a:r>
              <a:t>□ **レベル確認**</a:t>
            </a:r>
          </a:p>
          <a:p>
            <a:pPr/>
            <a:r>
              <a:t>- すべての部材が正しいレベルに配置されているか</a:t>
            </a:r>
          </a:p>
          <a:p>
            <a:pPr/>
            <a:r>
              <a:t>- レベル名は課題仕様どおりか</a:t>
            </a:r>
          </a:p>
          <a:p>
            <a:pPr/>
            <a:r>
              <a:t>- 断面図で高さを確認したか</a:t>
            </a:r>
          </a:p>
          <a:p>
            <a:pPr/>
            <a:r>
              <a:t>□ **壁の確認**</a:t>
            </a:r>
          </a:p>
          <a:p>
            <a:pPr/>
            <a:r>
              <a:t>- 壁の上端が正しいレベルに設定されているか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第5章｜試験環境対策（初期設定・制約）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準1級試験の環境と制約を理解します。</a:t>
            </a:r>
          </a:p>
          <a:p>
            <a:pPr/>
            <a:r>
              <a:t>限られた時間で最大の成果を出す準備をします。</a:t>
            </a:r>
          </a:p>
          <a:p>
            <a:pPr/>
            <a:r>
              <a:t>試験開始直後の初期設定を確実に行えるようにします。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第5章｜試験環境対策（初期設定・制約） - 2. 試験環境の特徴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**試験時間と形式**:</a:t>
            </a:r>
          </a:p>
          <a:p>
            <a:pPr/>
            <a:r>
              <a:t>- 実技試験: 120分（2時間）</a:t>
            </a:r>
          </a:p>
          <a:p>
            <a:pPr/>
            <a:r>
              <a:t>- 課題: モデリング + 図面作成</a:t>
            </a:r>
          </a:p>
          <a:p>
            <a:pPr/>
            <a:r>
              <a:t>- 提出物: .rvtファイル + PDFまたは画像</a:t>
            </a:r>
          </a:p>
          <a:p>
            <a:pPr/>
            <a:r>
              <a:t>**制約条件**:</a:t>
            </a:r>
          </a:p>
          <a:p>
            <a:pPr/>
            <a:r>
              <a:t>- **支給テンプレート使用**: カスタムテンプレートは使用不可</a:t>
            </a:r>
          </a:p>
          <a:p>
            <a:pPr/>
            <a:r>
              <a:t>- **参照資料の制限**: 試験要項で指定されたもののみ</a:t>
            </a:r>
          </a:p>
          <a:p>
            <a:pPr/>
            <a:r>
              <a:t>- **ソフトバージョン指定**: 試験会場のバージョンに従う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第5章｜試験環境対策（初期設定・制約） - 3. 開始直後の初期設定（最初の3分が重要）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**ステップ1: ファイル確認（30秒）**</a:t>
            </a:r>
          </a:p>
          <a:p>
            <a:pPr/>
            <a:r>
              <a:t>```</a:t>
            </a:r>
          </a:p>
          <a:p>
            <a:pPr/>
            <a:r>
              <a:t>□ テンプレートファイルを開く</a:t>
            </a:r>
          </a:p>
          <a:p>
            <a:pPr/>
            <a:r>
              <a:t>□ 「名前を付けて保存」で自分の受験番号を付ける</a:t>
            </a:r>
          </a:p>
          <a:p>
            <a:pPr/>
            <a:r>
              <a:t>□ 保存場所を確認（デスクトップ等）</a:t>
            </a:r>
          </a:p>
          <a:p>
            <a:pPr/>
            <a:r>
              <a:t>```</a:t>
            </a:r>
          </a:p>
          <a:p>
            <a:pPr/>
            <a:r>
              <a:t>**ステップ2: 単位設定確認（30秒）**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第5章｜試験環境対策（初期設定・制約） - 4. よく使うツールの配置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**リボンのカスタマイズ**（できる場合）:</a:t>
            </a:r>
          </a:p>
          <a:p>
            <a:pPr/>
            <a:r>
              <a:t>```</a:t>
            </a:r>
          </a:p>
          <a:p>
            <a:pPr/>
            <a:r>
              <a:t>建築タブに集約:</a:t>
            </a:r>
          </a:p>
          <a:p>
            <a:pPr/>
            <a:r>
              <a:t>- 壁</a:t>
            </a:r>
          </a:p>
          <a:p>
            <a:pPr/>
            <a:r>
              <a:t>- ドア</a:t>
            </a:r>
          </a:p>
          <a:p>
            <a:pPr/>
            <a:r>
              <a:t>- 窓</a:t>
            </a:r>
          </a:p>
          <a:p>
            <a:pPr/>
            <a:r>
              <a:t>- 床</a:t>
            </a:r>
          </a:p>
          <a:p>
            <a:pPr/>
            <a:r>
              <a:t>- 天井</a:t>
            </a:r>
          </a:p>
          <a:p>
            <a:pPr/>
            <a:r>
              <a:t>- 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第5章｜試験環境対策（初期設定・制約） - 5. ショートカットキーの活用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**必須ショートカット**:</a:t>
            </a:r>
          </a:p>
          <a:p>
            <a:pPr/>
            <a:r>
              <a:t>```</a:t>
            </a:r>
          </a:p>
          <a:p>
            <a:pPr/>
            <a:r>
              <a:t>■ 基本操作</a:t>
            </a:r>
          </a:p>
          <a:p>
            <a:pPr/>
            <a:r>
              <a:t>Ctrl + S     : 上書き保存（5分ごとに実行推奨）</a:t>
            </a:r>
          </a:p>
          <a:p>
            <a:pPr/>
            <a:r>
              <a:t>Ctrl + Z     : 元に戻す</a:t>
            </a:r>
          </a:p>
          <a:p>
            <a:pPr/>
            <a:r>
              <a:t>Ctrl + Y     : やり直し</a:t>
            </a:r>
          </a:p>
          <a:p>
            <a:pPr/>
            <a:r>
              <a:t>Esc          : コマンド中断</a:t>
            </a:r>
          </a:p>
          <a:p>
            <a:pPr/>
            <a:r>
              <a:t>■ 表示操作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第6章｜準1級 模擬課題（自己チェックリスト付き）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実際の試験を想定した模擬課題に取り組みます。</a:t>
            </a:r>
          </a:p>
          <a:p>
            <a:pPr/>
            <a:r>
              <a:t>自己チェックリストで習熟度を確認します。</a:t>
            </a:r>
          </a:p>
          <a:p>
            <a:pPr/>
            <a:r>
              <a:t>本番と同じ時間配分で練習できるようにします。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第6章｜準1級 模擬課題（自己チェックリスト付き） - 2. 模擬課題1: 小規模事務所ビル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**課題概要**:</a:t>
            </a:r>
          </a:p>
          <a:p>
            <a:pPr/>
            <a:r>
              <a:t>- 建物用途: 事務所</a:t>
            </a:r>
          </a:p>
          <a:p>
            <a:pPr/>
            <a:r>
              <a:t>- 構造: RC造</a:t>
            </a:r>
          </a:p>
          <a:p>
            <a:pPr/>
            <a:r>
              <a:t>- 規模: 地上2階建</a:t>
            </a:r>
          </a:p>
          <a:p>
            <a:pPr/>
            <a:r>
              <a:t>- 延床面積: 約300㎡</a:t>
            </a:r>
          </a:p>
          <a:p>
            <a:pPr/>
            <a:r>
              <a:t>- 階高: 1階 3,500mm、2階 3,000mm</a:t>
            </a:r>
          </a:p>
          <a:p>
            <a:pPr/>
            <a:r>
              <a:t>- 制限時間: 120分</a:t>
            </a:r>
          </a:p>
          <a:p>
            <a:pPr/>
            <a:r>
              <a:t>**図面条件**: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第6章｜準1級 模擬課題（自己チェックリスト付き） - 3. 模擬課題2: 共同住宅（中級）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**課題概要**:</a:t>
            </a:r>
          </a:p>
          <a:p>
            <a:pPr/>
            <a:r>
              <a:t>- 建物用途: 共同住宅（1棟4戸）</a:t>
            </a:r>
          </a:p>
          <a:p>
            <a:pPr/>
            <a:r>
              <a:t>- 構造: RC造</a:t>
            </a:r>
          </a:p>
          <a:p>
            <a:pPr/>
            <a:r>
              <a:t>- 規模: 地上3階建</a:t>
            </a:r>
          </a:p>
          <a:p>
            <a:pPr/>
            <a:r>
              <a:t>- 住戸タイプ: 2LDK（2タイプ）</a:t>
            </a:r>
          </a:p>
          <a:p>
            <a:pPr/>
            <a:r>
              <a:t>- 延床面積: 約480㎡</a:t>
            </a:r>
          </a:p>
          <a:p>
            <a:pPr/>
            <a:r>
              <a:t>- 制限時間: 120分</a:t>
            </a:r>
          </a:p>
          <a:p>
            <a:pPr/>
            <a:r>
              <a:t>**図面条件**: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第6章｜準1級 模擬課題（自己チェックリスト付き） - 4. 模擬課題3: 混構造建築（上級）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**課題概要**:</a:t>
            </a:r>
          </a:p>
          <a:p>
            <a:pPr/>
            <a:r>
              <a:t>- 建物用途: 店舗併用住宅</a:t>
            </a:r>
          </a:p>
          <a:p>
            <a:pPr/>
            <a:r>
              <a:t>- 構造: 1階 RC造、2-3階 木造</a:t>
            </a:r>
          </a:p>
          <a:p>
            <a:pPr/>
            <a:r>
              <a:t>- 規模: 地上3階建</a:t>
            </a:r>
          </a:p>
          <a:p>
            <a:pPr/>
            <a:r>
              <a:t>- 制限時間: 120分</a:t>
            </a:r>
          </a:p>
          <a:p>
            <a:pPr/>
            <a:r>
              <a:t>（詳細は実際の試験レベルに応じて設定）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第6章｜準1級 模擬課題（自己チェックリスト付き） - 5. 自己採点基準（詳細版）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**評価項目と配点**:</a:t>
            </a:r>
          </a:p>
          <a:p>
            <a:pPr/>
            <a:r>
              <a:t>**形状・寸法（40点）**:</a:t>
            </a:r>
          </a:p>
          <a:p>
            <a:pPr/>
            <a:r>
              <a:t>- グリッド配置: 5点</a:t>
            </a:r>
          </a:p>
          <a:p>
            <a:pPr/>
            <a:r>
              <a:t>- レベル設定: 5点</a:t>
            </a:r>
          </a:p>
          <a:p>
            <a:pPr/>
            <a:r>
              <a:t>- 壁の配置: 10点</a:t>
            </a:r>
          </a:p>
          <a:p>
            <a:pPr/>
            <a:r>
              <a:t>- 床の配置: 10点</a:t>
            </a:r>
          </a:p>
          <a:p>
            <a:pPr/>
            <a:r>
              <a:t>- 柱の配置: 5点</a:t>
            </a:r>
          </a:p>
          <a:p>
            <a:pPr/>
            <a:r>
              <a:t>- 開口部配置: 5点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